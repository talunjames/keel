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Very Important</c:v>
                </c:pt>
              </c:strCache>
            </c:strRef>
          </c:tx>
          <c:spPr>
            <a:solidFill>
              <a:srgbClr val="1836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836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School safety &amp; security</c:v>
                  </c:pt>
                  <c:pt idx="1">
                    <c:v>Education quality</c:v>
                  </c:pt>
                  <c:pt idx="2">
                    <c:v>Streets &amp; roads</c:v>
                  </c:pt>
                  <c:pt idx="3">
                    <c:v>D11 performance</c:v>
                  </c:pt>
                  <c:pt idx="4">
                    <c:v>Crime &amp; gang activity</c:v>
                  </c:pt>
                  <c:pt idx="5">
                    <c:v>School facilities</c:v>
                  </c:pt>
                  <c:pt idx="6">
                    <c:v>Preventing tax increases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91</c:v>
                </c:pt>
                <c:pt idx="1">
                  <c:v>91</c:v>
                </c:pt>
                <c:pt idx="2">
                  <c:v>89</c:v>
                </c:pt>
                <c:pt idx="3">
                  <c:v>81</c:v>
                </c:pt>
                <c:pt idx="4">
                  <c:v>78</c:v>
                </c:pt>
                <c:pt idx="5">
                  <c:v>74</c:v>
                </c:pt>
                <c:pt idx="6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836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5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A169"/>
              </a:solidFill>
              <a:effectLst/>
            </c:spPr>
          </c:dPt>
          <c:dPt>
            <c:idx val="1"/>
            <c:bubble3D val="0"/>
            <c:spPr>
              <a:solidFill>
                <a:srgbClr val="68D391"/>
              </a:solidFill>
              <a:effectLst/>
            </c:spPr>
          </c:dPt>
          <c:dPt>
            <c:idx val="2"/>
            <c:bubble3D val="0"/>
            <c:spPr>
              <a:solidFill>
                <a:srgbClr val="F1C84B"/>
              </a:solidFill>
              <a:effectLst/>
            </c:spPr>
          </c:dPt>
          <c:dPt>
            <c:idx val="3"/>
            <c:bubble3D val="0"/>
            <c:spPr>
              <a:solidFill>
                <a:srgbClr val="DD6B20"/>
              </a:solidFill>
              <a:effectLst/>
            </c:spPr>
          </c:dPt>
          <c:dPt>
            <c:idx val="4"/>
            <c:bubble3D val="0"/>
            <c:spPr>
              <a:solidFill>
                <a:srgbClr val="E53E3E"/>
              </a:solidFill>
              <a:effectLst/>
            </c:spPr>
          </c:dPt>
          <c:dPt>
            <c:idx val="5"/>
            <c:bubble3D val="0"/>
            <c:spPr>
              <a:solidFill>
                <a:srgbClr val="E8E8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Excellent</c:v>
                </c:pt>
                <c:pt idx="1">
                  <c:v>Good</c:v>
                </c:pt>
                <c:pt idx="2">
                  <c:v>Fair</c:v>
                </c:pt>
                <c:pt idx="3">
                  <c:v>Poor</c:v>
                </c:pt>
                <c:pt idx="4">
                  <c:v>Very Poor</c:v>
                </c:pt>
                <c:pt idx="5">
                  <c:v>Not Sure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6</c:v>
                </c:pt>
                <c:pt idx="1">
                  <c:v>33.3</c:v>
                </c:pt>
                <c:pt idx="2">
                  <c:v>29.1</c:v>
                </c:pt>
                <c:pt idx="3">
                  <c:v>9.2</c:v>
                </c:pt>
                <c:pt idx="4">
                  <c:v>6.2</c:v>
                </c:pt>
                <c:pt idx="5">
                  <c:v>16.2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A169"/>
              </a:solidFill>
              <a:effectLst/>
            </c:spPr>
          </c:dPt>
          <c:dPt>
            <c:idx val="1"/>
            <c:bubble3D val="0"/>
            <c:spPr>
              <a:solidFill>
                <a:srgbClr val="68D391"/>
              </a:solidFill>
              <a:effectLst/>
            </c:spPr>
          </c:dPt>
          <c:dPt>
            <c:idx val="2"/>
            <c:bubble3D val="0"/>
            <c:spPr>
              <a:solidFill>
                <a:srgbClr val="DD6B20"/>
              </a:solidFill>
              <a:effectLst/>
            </c:spPr>
          </c:dPt>
          <c:dPt>
            <c:idx val="3"/>
            <c:bubble3D val="0"/>
            <c:spPr>
              <a:solidFill>
                <a:srgbClr val="E53E3E"/>
              </a:solidFill>
              <a:effectLst/>
            </c:spPr>
          </c:dPt>
          <c:dPt>
            <c:idx val="4"/>
            <c:bubble3D val="0"/>
            <c:spPr>
              <a:solidFill>
                <a:srgbClr val="E8E8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Definitely Yes</c:v>
                </c:pt>
                <c:pt idx="1">
                  <c:v>Probably Yes</c:v>
                </c:pt>
                <c:pt idx="2">
                  <c:v>Probably No</c:v>
                </c:pt>
                <c:pt idx="3">
                  <c:v>Definitely No</c:v>
                </c:pt>
                <c:pt idx="4">
                  <c:v>Not Sure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31</c:v>
                </c:pt>
                <c:pt idx="1">
                  <c:v>27.5</c:v>
                </c:pt>
                <c:pt idx="2">
                  <c:v>14.4</c:v>
                </c:pt>
                <c:pt idx="3">
                  <c:v>16.9</c:v>
                </c:pt>
                <c:pt idx="4">
                  <c:v>10.2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Initial Ballot</c:v>
                </c:pt>
              </c:strCache>
            </c:strRef>
          </c:tx>
          <c:spPr>
            <a:solidFill>
              <a:srgbClr val="38A1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Overall</c:v>
                  </c:pt>
                  <c:pt idx="1">
                    <c:v>Democrats</c:v>
                  </c:pt>
                  <c:pt idx="2">
                    <c:v>Republicans</c:v>
                  </c:pt>
                  <c:pt idx="3">
                    <c:v>Unaffiliated</c:v>
                  </c:pt>
                  <c:pt idx="4">
                    <c:v>Child in D11</c:v>
                  </c:pt>
                  <c:pt idx="5">
                    <c:v>No child in D11</c:v>
                  </c:pt>
                  <c:pt idx="6">
                    <c:v>Age 65+</c:v>
                  </c:pt>
                  <c:pt idx="7">
                    <c:v>Age 18–29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58.5</c:v>
                </c:pt>
                <c:pt idx="1">
                  <c:v>56.9</c:v>
                </c:pt>
                <c:pt idx="2">
                  <c:v>56.5</c:v>
                </c:pt>
                <c:pt idx="3">
                  <c:v>60.8</c:v>
                </c:pt>
                <c:pt idx="4">
                  <c:v>60.6</c:v>
                </c:pt>
                <c:pt idx="5">
                  <c:v>58.1</c:v>
                </c:pt>
                <c:pt idx="6">
                  <c:v>59.2</c:v>
                </c:pt>
                <c:pt idx="7">
                  <c:v>52.2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Positive Arguments</c:v>
                </c:pt>
              </c:strCache>
            </c:strRef>
          </c:tx>
          <c:spPr>
            <a:solidFill>
              <a:srgbClr val="F1C8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Overall</c:v>
                  </c:pt>
                  <c:pt idx="1">
                    <c:v>Democrats</c:v>
                  </c:pt>
                  <c:pt idx="2">
                    <c:v>Republicans</c:v>
                  </c:pt>
                  <c:pt idx="3">
                    <c:v>Unaffiliated</c:v>
                  </c:pt>
                  <c:pt idx="4">
                    <c:v>Child in D11</c:v>
                  </c:pt>
                  <c:pt idx="5">
                    <c:v>No child in D11</c:v>
                  </c:pt>
                  <c:pt idx="6">
                    <c:v>Age 65+</c:v>
                  </c:pt>
                  <c:pt idx="7">
                    <c:v>Age 18–29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58.6</c:v>
                </c:pt>
                <c:pt idx="1">
                  <c:v>62.7</c:v>
                </c:pt>
                <c:pt idx="2">
                  <c:v>53</c:v>
                </c:pt>
                <c:pt idx="3">
                  <c:v>60.2</c:v>
                </c:pt>
                <c:pt idx="4">
                  <c:v>60.6</c:v>
                </c:pt>
                <c:pt idx="5">
                  <c:v>58.1</c:v>
                </c:pt>
                <c:pt idx="6">
                  <c:v>57.9</c:v>
                </c:pt>
                <c:pt idx="7">
                  <c:v>65.2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After All Arguments (Final)</c:v>
                </c:pt>
              </c:strCache>
            </c:strRef>
          </c:tx>
          <c:spPr>
            <a:solidFill>
              <a:srgbClr val="1836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Overall</c:v>
                  </c:pt>
                  <c:pt idx="1">
                    <c:v>Democrats</c:v>
                  </c:pt>
                  <c:pt idx="2">
                    <c:v>Republicans</c:v>
                  </c:pt>
                  <c:pt idx="3">
                    <c:v>Unaffiliated</c:v>
                  </c:pt>
                  <c:pt idx="4">
                    <c:v>Child in D11</c:v>
                  </c:pt>
                  <c:pt idx="5">
                    <c:v>No child in D11</c:v>
                  </c:pt>
                  <c:pt idx="6">
                    <c:v>Age 65+</c:v>
                  </c:pt>
                  <c:pt idx="7">
                    <c:v>Age 18–29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51.5</c:v>
                </c:pt>
                <c:pt idx="1">
                  <c:v>55.1</c:v>
                </c:pt>
                <c:pt idx="2">
                  <c:v>47.4</c:v>
                </c:pt>
                <c:pt idx="3">
                  <c:v>52.2</c:v>
                </c:pt>
                <c:pt idx="4">
                  <c:v>47.2</c:v>
                </c:pt>
                <c:pt idx="5">
                  <c:v>52.7</c:v>
                </c:pt>
                <c:pt idx="6">
                  <c:v>50</c:v>
                </c:pt>
                <c:pt idx="7">
                  <c:v>43.5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3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5F5F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Priority</c:v>
                </c:pt>
              </c:strCache>
            </c:strRef>
          </c:tx>
          <c:spPr>
            <a:solidFill>
              <a:srgbClr val="F1C8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836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HVAC &amp; air quality</c:v>
                  </c:pt>
                  <c:pt idx="1">
                    <c:v>Health/safety codes &amp; ADA</c:v>
                  </c:pt>
                  <c:pt idx="2">
                    <c:v>Roofs, plumbing, electrical</c:v>
                  </c:pt>
                  <c:pt idx="3">
                    <c:v>Hazmat removal</c:v>
                  </c:pt>
                  <c:pt idx="4">
                    <c:v>Student safety &amp; security</c:v>
                  </c:pt>
                  <c:pt idx="5">
                    <c:v>Career/college labs</c:v>
                  </c:pt>
                  <c:pt idx="6">
                    <c:v>Music &amp; performing arts</c:v>
                  </c:pt>
                  <c:pt idx="7">
                    <c:v>Science classrooms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82.5</c:v>
                </c:pt>
                <c:pt idx="1">
                  <c:v>82.2</c:v>
                </c:pt>
                <c:pt idx="2">
                  <c:v>81.7</c:v>
                </c:pt>
                <c:pt idx="3">
                  <c:v>80</c:v>
                </c:pt>
                <c:pt idx="4">
                  <c:v>79.5</c:v>
                </c:pt>
                <c:pt idx="5">
                  <c:v>78.5</c:v>
                </c:pt>
                <c:pt idx="6">
                  <c:v>76.7</c:v>
                </c:pt>
                <c:pt idx="7">
                  <c:v>74.4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836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5F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Supporters</c:v>
                </c:pt>
              </c:strCache>
            </c:strRef>
          </c:tx>
          <c:spPr>
            <a:solidFill>
              <a:srgbClr val="38A1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Hazmat removal</c:v>
                  </c:pt>
                  <c:pt idx="1">
                    <c:v>Health/safety codes</c:v>
                  </c:pt>
                  <c:pt idx="2">
                    <c:v>Roofs/plumbing</c:v>
                  </c:pt>
                  <c:pt idx="3">
                    <c:v>HVAC/air quality</c:v>
                  </c:pt>
                  <c:pt idx="4">
                    <c:v>Safety/security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</c:v>
                </c:pt>
                <c:pt idx="1">
                  <c:v>74</c:v>
                </c:pt>
                <c:pt idx="2">
                  <c:v>69</c:v>
                </c:pt>
                <c:pt idx="3">
                  <c:v>62</c:v>
                </c:pt>
                <c:pt idx="4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Undecided</c:v>
                </c:pt>
              </c:strCache>
            </c:strRef>
          </c:tx>
          <c:spPr>
            <a:solidFill>
              <a:srgbClr val="F1C8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Hazmat removal</c:v>
                  </c:pt>
                  <c:pt idx="1">
                    <c:v>Health/safety codes</c:v>
                  </c:pt>
                  <c:pt idx="2">
                    <c:v>Roofs/plumbing</c:v>
                  </c:pt>
                  <c:pt idx="3">
                    <c:v>HVAC/air quality</c:v>
                  </c:pt>
                  <c:pt idx="4">
                    <c:v>Safety/security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58</c:v>
                </c:pt>
                <c:pt idx="1">
                  <c:v>54</c:v>
                </c:pt>
                <c:pt idx="2">
                  <c:v>47</c:v>
                </c:pt>
                <c:pt idx="3">
                  <c:v>45</c:v>
                </c:pt>
                <c:pt idx="4">
                  <c:v>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Opponents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Hazmat removal</c:v>
                  </c:pt>
                  <c:pt idx="1">
                    <c:v>Health/safety codes</c:v>
                  </c:pt>
                  <c:pt idx="2">
                    <c:v>Roofs/plumbing</c:v>
                  </c:pt>
                  <c:pt idx="3">
                    <c:v>HVAC/air quality</c:v>
                  </c:pt>
                  <c:pt idx="4">
                    <c:v>Safety/security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31</c:v>
                </c:pt>
                <c:pt idx="1">
                  <c:v>29</c:v>
                </c:pt>
                <c:pt idx="2">
                  <c:v>30</c:v>
                </c:pt>
                <c:pt idx="3">
                  <c:v>25</c:v>
                </c:pt>
                <c:pt idx="4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5F5F5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38A1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Initial Ballot</c:v>
                  </c:pt>
                  <c:pt idx="1">
                    <c:v>After Positive Arguments</c:v>
                  </c:pt>
                  <c:pt idx="2">
                    <c:v>After All Arguments (Final)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58.5</c:v>
                </c:pt>
                <c:pt idx="1">
                  <c:v>58.6</c:v>
                </c:pt>
                <c:pt idx="2">
                  <c:v>51.5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Initial Ballot</c:v>
                  </c:pt>
                  <c:pt idx="1">
                    <c:v>After Positive Arguments</c:v>
                  </c:pt>
                  <c:pt idx="2">
                    <c:v>After All Arguments (Final)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31.3</c:v>
                </c:pt>
                <c:pt idx="1">
                  <c:v>31.6</c:v>
                </c:pt>
                <c:pt idx="2">
                  <c:v>37.6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Sure</c:v>
                </c:pt>
              </c:strCache>
            </c:strRef>
          </c:tx>
          <c:spPr>
            <a:solidFill>
              <a:srgbClr val="E8E8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Initial Ballot</c:v>
                  </c:pt>
                  <c:pt idx="1">
                    <c:v>After Positive Arguments</c:v>
                  </c:pt>
                  <c:pt idx="2">
                    <c:v>After All Arguments (Final)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10.2</c:v>
                </c:pt>
                <c:pt idx="1">
                  <c:v>9.9</c:v>
                </c:pt>
                <c:pt idx="2">
                  <c:v>10.9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5F5F5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Cygnal Initial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892A4"/>
              </a:solidFill>
              <a:effectLst/>
            </c:spPr>
          </c:dPt>
          <c:dPt>
            <c:idx val="1"/>
            <c:bubble3D val="0"/>
            <c:spPr>
              <a:solidFill>
                <a:srgbClr val="E53E3E"/>
              </a:solidFill>
              <a:effectLst/>
            </c:spPr>
          </c:dPt>
          <c:dPt>
            <c:idx val="2"/>
            <c:bubble3D val="0"/>
            <c:spPr>
              <a:solidFill>
                <a:srgbClr val="E8E8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Yes</c:v>
                </c:pt>
                <c:pt idx="1">
                  <c:v>No</c:v>
                </c:pt>
                <c:pt idx="2">
                  <c:v>Undecided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54.3</c:v>
                </c:pt>
                <c:pt idx="1">
                  <c:v>29</c:v>
                </c:pt>
                <c:pt idx="2">
                  <c:v>16.7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FSS Initial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A169"/>
              </a:solidFill>
              <a:effectLst/>
            </c:spPr>
          </c:dPt>
          <c:dPt>
            <c:idx val="1"/>
            <c:bubble3D val="0"/>
            <c:spPr>
              <a:solidFill>
                <a:srgbClr val="E53E3E"/>
              </a:solidFill>
              <a:effectLst/>
            </c:spPr>
          </c:dPt>
          <c:dPt>
            <c:idx val="2"/>
            <c:bubble3D val="0"/>
            <c:spPr>
              <a:solidFill>
                <a:srgbClr val="E8E8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Yes</c:v>
                </c:pt>
                <c:pt idx="1">
                  <c:v>No</c:v>
                </c:pt>
                <c:pt idx="2">
                  <c:v>Undecided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58.5</c:v>
                </c:pt>
                <c:pt idx="1">
                  <c:v>31.3</c:v>
                </c:pt>
                <c:pt idx="2">
                  <c:v>10.2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3" Type="http://schemas.openxmlformats.org/officeDocument/2006/relationships/chart" Target="/ppt/charts/chart9.xml"/><Relationship Id="rId1" Type="http://schemas.openxmlformats.org/officeDocument/2006/relationships/image" Target="../media/image-1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70248" y="0"/>
            <a:ext cx="7918704" cy="6858000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709928"/>
            <a:ext cx="2862072" cy="3813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21031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Feasibility Survey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754880" y="329184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C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Presentation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Springs School District No. 11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Fog Signal Strategies  |  March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Fog Signal Strategies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communications guidance for communities navigating their most critical moments.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5349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103120"/>
            <a:ext cx="54864" cy="1737360"/>
          </a:xfrm>
          <a:prstGeom prst="rect">
            <a:avLst/>
          </a:prstGeom>
          <a:solidFill>
            <a:srgbClr val="F1C84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240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Services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26517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Full-service campaign strategy for tax measures, school bonds, and local initiatives. 250+ campaigns advised nationwide.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63640" y="2103120"/>
            <a:ext cx="5349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63640" y="2103120"/>
            <a:ext cx="54864" cy="1737360"/>
          </a:xfrm>
          <a:prstGeom prst="rect">
            <a:avLst/>
          </a:prstGeom>
          <a:solidFill>
            <a:srgbClr val="F1C84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317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0" y="2240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Insights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132320" y="26517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research, voter opinion surveys, focus groups, demographic analysis, and message testing — not just political polls.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4069080"/>
            <a:ext cx="5349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0080" y="4069080"/>
            <a:ext cx="54864" cy="1737360"/>
          </a:xfrm>
          <a:prstGeom prst="rect">
            <a:avLst/>
          </a:prstGeom>
          <a:solidFill>
            <a:srgbClr val="F1C84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9768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206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Outreach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508760" y="46177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strategies that meet stakeholders where they are — in schools, at meetings, and at their doorsteps.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263640" y="4069080"/>
            <a:ext cx="5349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263640" y="4069080"/>
            <a:ext cx="54864" cy="1737360"/>
          </a:xfrm>
          <a:prstGeom prst="rect">
            <a:avLst/>
          </a:prstGeom>
          <a:solidFill>
            <a:srgbClr val="F1C84B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29768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32320" y="4206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Affairs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7132320" y="46177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Policy, stakeholder engagement, media strategy, and legislative communications for public agencies and coalitions.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Research Track Record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5029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645920"/>
            <a:ext cx="73152" cy="23774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7373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005840" y="2834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Rate on Bond Measures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5840" y="3246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our feasibility research indicates a measure is viable, it passes on Election Day 98% of the time.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9320" y="1645920"/>
            <a:ext cx="55321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89320" y="1645920"/>
            <a:ext cx="54864" cy="694944"/>
          </a:xfrm>
          <a:prstGeom prst="rect">
            <a:avLst/>
          </a:prstGeom>
          <a:solidFill>
            <a:srgbClr val="F1C84B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169164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250+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406640" y="169164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 advised nationwide across school, municipal, and special district measures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2441448"/>
            <a:ext cx="55321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2441448"/>
            <a:ext cx="54864" cy="694944"/>
          </a:xfrm>
          <a:prstGeom prst="rect">
            <a:avLst/>
          </a:prstGeom>
          <a:solidFill>
            <a:srgbClr val="F1C84B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0" y="248716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$2B+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406640" y="248716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approved public funds supported by our research and strategic guidance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89320" y="3236976"/>
            <a:ext cx="55321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89320" y="3236976"/>
            <a:ext cx="54864" cy="694944"/>
          </a:xfrm>
          <a:prstGeom prst="rect">
            <a:avLst/>
          </a:prstGeom>
          <a:solidFill>
            <a:srgbClr val="F1C84B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0" y="328269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7406640" y="328269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national team with research, strategy, and creative under one roof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4251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Bond Measure Wins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" y="4617720"/>
            <a:ext cx="34747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0080" y="4617720"/>
            <a:ext cx="3474720" cy="54864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709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65.87% Yes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246888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$950M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2960" y="5120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Juan USD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22960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Sacramento County, CA  (2024)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389120" y="4617720"/>
            <a:ext cx="34747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4617720"/>
            <a:ext cx="3474720" cy="54864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0" y="4709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66.42% Yes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21792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$408M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572000" y="5120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Fontana USD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72000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Bernardino County, CA  (2024)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138160" y="4617720"/>
            <a:ext cx="34747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138160" y="4617720"/>
            <a:ext cx="3474720" cy="54864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8" name="Text 35"/>
          <p:cNvSpPr/>
          <p:nvPr/>
        </p:nvSpPr>
        <p:spPr>
          <a:xfrm>
            <a:off x="8321040" y="4709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57.83% Yes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996696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$675M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321040" y="5120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Desert Sands USD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321040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Riverside County, CA  (2024)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Feasibility Research, Not a Political Poll?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political poll and feasibility research serve fundamentally different purposes.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5212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103120"/>
            <a:ext cx="5212080" cy="54864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240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of a Political Poll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26517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a snapshot of voter sentiment at a single point in time. Useful for campaigns tracking a horse race, but not designed to test whether a measure can survive opposition.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2103120"/>
            <a:ext cx="5212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09360" y="2103120"/>
            <a:ext cx="5212080" cy="54864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2240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of Feasibility Research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83680" y="26517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whether a measure can win on Election Day by stress-testing support against the strongest opposition arguments voters will actually encounter.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3794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in Practice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20624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4206240"/>
            <a:ext cx="54864" cy="1645920"/>
          </a:xfrm>
          <a:prstGeom prst="rect">
            <a:avLst/>
          </a:prstGeom>
          <a:solidFill>
            <a:srgbClr val="F1C84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42793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Sequential Ballot Tests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22960" y="4754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 initial support, then re-test after positive messaging, and again after the strongest opposition attacks — simulating the full campaign voters will experience.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389120" y="420624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389120" y="4206240"/>
            <a:ext cx="54864" cy="1645920"/>
          </a:xfrm>
          <a:prstGeom prst="rect">
            <a:avLst/>
          </a:prstGeom>
          <a:solidFill>
            <a:srgbClr val="F1C84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29768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29200" y="42793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Arguments Tested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0" y="4754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positive and 13 negative arguments are presented to identify exactly which messages move voters and which attacks pose the greatest risk.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138160" y="420624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138160" y="4206240"/>
            <a:ext cx="54864" cy="1645920"/>
          </a:xfrm>
          <a:prstGeom prst="rect">
            <a:avLst/>
          </a:prstGeom>
          <a:solidFill>
            <a:srgbClr val="F1C84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9768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778240" y="42793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Mapping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321040" y="4754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just reporting a number, we map where support is soft, who is persuadable, and what the opposition's strongest lines of attack will be.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37360"/>
            <a:ext cx="10881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92808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56616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852 registered voters in CSSD11 with midterm voting history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2606040"/>
            <a:ext cx="10881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61488"/>
            <a:ext cx="420624" cy="4206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566160" y="2697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Text-to-web and phone, February – March 2026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3474720"/>
            <a:ext cx="10881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30168"/>
            <a:ext cx="420624" cy="4206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3566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of Error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3566160" y="3566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±3.4% at 95% confidence (more than 2x the prior 400-person sample)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40080" y="4343400"/>
            <a:ext cx="10881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98848"/>
            <a:ext cx="420624" cy="4206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508760" y="4434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3566160" y="4434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items: issue importance, education quality, 3 ballot tests, 13 project prefs, 25 arguments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367528"/>
            <a:ext cx="420624" cy="42062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508760" y="5303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Weighting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3566160" y="5303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Post-stratification by age to match the midterm likely voter universe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Integrity: How We Build the Sample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don’t ask voters to tell us who they are — we already know.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54864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103120"/>
            <a:ext cx="73152" cy="320040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194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Don’t Use Self-Reported Demographics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26517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 data — age, party registration, voting history, and geographic location — is sourced from five independent databases, including voter files from both major political parties. This eliminates the need to ask respondents to self-identify.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Self-reported data introduces bias: voters may misremember, round their age, or feel social pressure when asked about political affiliation. By using verified third-party records, we remove that variable entirely.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92240" y="2103120"/>
            <a:ext cx="5074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103120"/>
            <a:ext cx="73152" cy="1417320"/>
          </a:xfrm>
          <a:prstGeom prst="rect">
            <a:avLst/>
          </a:prstGeom>
          <a:solidFill>
            <a:srgbClr val="F1C84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176272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the Bond’s Image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720840" y="26060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survey was sent to over 20,000 registered voters. Asking political leaning questions would signal a political affiliation that the bond measure does not have — potentially harming the district’s reputation and the measure’s nonpartisan positioning.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92240" y="3703320"/>
            <a:ext cx="5074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0" y="3703320"/>
            <a:ext cx="73152" cy="1417320"/>
          </a:xfrm>
          <a:prstGeom prst="rect">
            <a:avLst/>
          </a:prstGeom>
          <a:solidFill>
            <a:srgbClr val="F1C84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7947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78040" y="3776472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 for Imperfect Records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720840" y="42062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database is perfect — some records may have outdated phone numbers or mismatched addresses. These errors are far less frequent than self-reporting inaccuracies, and we account for them in our margin of error calculations. That’s also why we targeted 852 completed responses: a large sample absorbs individual data imperfections.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914400" y="5559552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data sources  ·  Both major party voter files  ·  No political leaning questions asked  ·  20,000+ voters contacted  ·  852 completed responses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Issue Priorities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08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important are each of the following issues to you?"  (% Very Important)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874520"/>
          <a:ext cx="10881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Education Perceptions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274320" y="1554480"/>
          <a:ext cx="5029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760720" y="1645920"/>
            <a:ext cx="5760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760720" y="1645920"/>
            <a:ext cx="54864" cy="12344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9" name="Text 5"/>
          <p:cNvSpPr/>
          <p:nvPr/>
        </p:nvSpPr>
        <p:spPr>
          <a:xfrm>
            <a:off x="6035040" y="1691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39.3%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7863840" y="1691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education positively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035040" y="23317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 Excellent + 33.3% Good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760720" y="3063240"/>
            <a:ext cx="5760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60720" y="3063240"/>
            <a:ext cx="54864" cy="1234440"/>
          </a:xfrm>
          <a:prstGeom prst="rect">
            <a:avLst/>
          </a:prstGeom>
          <a:solidFill>
            <a:srgbClr val="F1C84B"/>
          </a:solidFill>
          <a:ln/>
        </p:spPr>
      </p:sp>
      <p:sp>
        <p:nvSpPr>
          <p:cNvPr id="14" name="Text 10"/>
          <p:cNvSpPr/>
          <p:nvPr/>
        </p:nvSpPr>
        <p:spPr>
          <a:xfrm>
            <a:off x="6035040" y="3108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C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45.3%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7863840" y="31089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"Fair" or "Not Sure"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035040" y="37490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persuadable audience — reachable through factual information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760720" y="4480560"/>
            <a:ext cx="5760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760720" y="4480560"/>
            <a:ext cx="54864" cy="12344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9" name="Text 15"/>
          <p:cNvSpPr/>
          <p:nvPr/>
        </p:nvSpPr>
        <p:spPr>
          <a:xfrm>
            <a:off x="6035040" y="4526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7863840" y="45262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education negatively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035040" y="51663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 Poor + 6.2% Very Poor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Ballot Test: Majority Support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373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58.5%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500" kern="0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3474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31.0% Definitely Yes  +  27.5% Probably Yes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023360"/>
            <a:ext cx="22860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4023360"/>
            <a:ext cx="54864" cy="8686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069080"/>
            <a:ext cx="2011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31.3%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77240" y="4457700"/>
            <a:ext cx="20116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08960" y="4023360"/>
            <a:ext cx="22860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08960" y="4023360"/>
            <a:ext cx="54864" cy="868680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15" name="Text 12"/>
          <p:cNvSpPr/>
          <p:nvPr/>
        </p:nvSpPr>
        <p:spPr>
          <a:xfrm>
            <a:off x="3246120" y="4069080"/>
            <a:ext cx="2011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3246120" y="4457700"/>
            <a:ext cx="20116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5120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Exceeds TABOR’s 50%+1 threshold. Stronger starting position than the 2021 bond (Issue 4B), which failed by just 11 votes.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760720" y="1554480"/>
          <a:ext cx="56692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Across Demographics: All Three Ballot Tests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08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Probably or Definitely Yes at each stage of the survey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828800"/>
          <a:ext cx="11247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14400" y="5559552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starts above 50% in every demographic and remains at or near majority even after the full opposition stress test. This is not a partisan issue.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Voter Priorities for Bond Funds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08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projects would you prioritize?"  (% selected as top priority)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874520"/>
          <a:ext cx="10881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Cross-Partisan Consensus on Priorities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457200" y="1554480"/>
          <a:ext cx="11247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groups rank the same core building needs in their top priorities. Even opponents recognize the legitimacy of the facility needs.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Positive Arguments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91640"/>
            <a:ext cx="10881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691640"/>
            <a:ext cx="54864" cy="9144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737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2103120" y="17647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safety &amp; security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10312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increased safety measures to protect students and staff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770632"/>
            <a:ext cx="10881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770632"/>
            <a:ext cx="54864" cy="9144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281635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103120" y="2843784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&amp; technical education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103120" y="32278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students for healthcare, engineering, skilled trades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3849624"/>
            <a:ext cx="10881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3849624"/>
            <a:ext cx="54864" cy="9144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3895344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2103120" y="3922776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money long-term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103120" y="430682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buildings waste energy; upgrading saves on operating costs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4928616"/>
            <a:ext cx="10881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" y="4928616"/>
            <a:ext cx="54864" cy="9144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4974336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2103120" y="500176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aging facilities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2103120" y="538581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all students access to 21st-century learning environments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" y="56235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arguments reinforce existing support but have limited power to convert opponents — typical in feasibility research.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Opposition Vulnerabilities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attacks center on trust and accountability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10881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011680"/>
            <a:ext cx="54864" cy="6858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02996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103120" y="20299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not transparent about school closures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816352"/>
            <a:ext cx="10881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816352"/>
            <a:ext cx="54864" cy="6858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2834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103120" y="2834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has history of financial mismanagement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3621024"/>
            <a:ext cx="10881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3621024"/>
            <a:ext cx="54864" cy="6858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36393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2103120" y="363931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legally binding guarantee on spending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4425696"/>
            <a:ext cx="10881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0080" y="4425696"/>
            <a:ext cx="54864" cy="6858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444398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2103120" y="444398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$55M/year tax burden hurts families &amp; seniors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" y="5230368"/>
            <a:ext cx="10881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0080" y="5230368"/>
            <a:ext cx="54864" cy="6858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5" name="Text 22"/>
          <p:cNvSpPr/>
          <p:nvPr/>
        </p:nvSpPr>
        <p:spPr>
          <a:xfrm>
            <a:off x="914400" y="524865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2103120" y="5248656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time to raise taxes (inflation, high prices)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Opposition arguments routinely outperform positives in survey research. Testing them identifies vulnerabilities so a campaign can prepare. Many rely on emotional framing, not factual claims.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Ballot Test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holds through the full stress test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920240"/>
          <a:ext cx="11247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7-point decline is typical of bond feasibility studies. Final support of 51.5% still clears the 50%+1 threshold even after full opposition exposure.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Movement: Initial to Final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35204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645920"/>
            <a:ext cx="3520440" cy="59436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664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Yes Voters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0116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498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25603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74.1%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22960" y="3154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firm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36118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22960" y="4206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to No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4663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22960" y="5257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undecided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434840" y="1645920"/>
            <a:ext cx="35204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34840" y="1645920"/>
            <a:ext cx="3520440" cy="594360"/>
          </a:xfrm>
          <a:prstGeom prst="rect">
            <a:avLst/>
          </a:prstGeom>
          <a:solidFill>
            <a:srgbClr val="F1C84B"/>
          </a:solidFill>
          <a:ln/>
        </p:spPr>
      </p:sp>
      <p:sp>
        <p:nvSpPr>
          <p:cNvPr id="18" name="Text 15"/>
          <p:cNvSpPr/>
          <p:nvPr/>
        </p:nvSpPr>
        <p:spPr>
          <a:xfrm>
            <a:off x="4617720" y="1664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Undecided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617720" y="20116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87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17720" y="25603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33.3%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4617720" y="3154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to Yes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617720" y="36118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33.3%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4617720" y="4206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to No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617720" y="4663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33.3%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4617720" y="5257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stayed undecided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229600" y="1645920"/>
            <a:ext cx="35204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229600" y="1645920"/>
            <a:ext cx="3520440" cy="59436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8" name="Text 25"/>
          <p:cNvSpPr/>
          <p:nvPr/>
        </p:nvSpPr>
        <p:spPr>
          <a:xfrm>
            <a:off x="8412480" y="1664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No Voters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412480" y="20116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267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412480" y="25603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77.9%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8412480" y="3154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remained No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412480" y="36118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8412480" y="4206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to Yes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412480" y="4663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3000" dirty="0"/>
          </a:p>
        </p:txBody>
      </p:sp>
      <p:sp>
        <p:nvSpPr>
          <p:cNvPr id="35" name="Text 32"/>
          <p:cNvSpPr/>
          <p:nvPr/>
        </p:nvSpPr>
        <p:spPr>
          <a:xfrm>
            <a:off x="8412480" y="5257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undecided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0080" y="585216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priority: Harden the 26% of soft Yes voters who weakened under opposition messaging.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to Previous Polling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Cygnal  —  June 2025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87452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respondents  ·  ±4.88% MoE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1264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Fog Signal  —  March 2026</a:t>
            </a:r>
            <a:endParaRPr lang="en-US" sz="15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126480" y="1874520"/>
          <a:ext cx="5486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612648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852 respondents  ·  ±3.4% MoE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5120640"/>
            <a:ext cx="26060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40080" y="5120640"/>
            <a:ext cx="54864" cy="82296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4" name="Text 9"/>
          <p:cNvSpPr/>
          <p:nvPr/>
        </p:nvSpPr>
        <p:spPr>
          <a:xfrm>
            <a:off x="777240" y="51389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+4.2 pts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777240" y="5532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Yes (54.3% → 58.5%)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520440" y="5120640"/>
            <a:ext cx="26060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520440" y="5120640"/>
            <a:ext cx="54864" cy="82296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8" name="Text 13"/>
          <p:cNvSpPr/>
          <p:nvPr/>
        </p:nvSpPr>
        <p:spPr>
          <a:xfrm>
            <a:off x="3657600" y="51389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−6.5 pts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3657600" y="5532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Undecided (16.7% → 10.2%)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0" y="5120640"/>
            <a:ext cx="26060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0" y="5120640"/>
            <a:ext cx="54864" cy="82296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22" name="Text 17"/>
          <p:cNvSpPr/>
          <p:nvPr/>
        </p:nvSpPr>
        <p:spPr>
          <a:xfrm>
            <a:off x="6537960" y="51389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2.1×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537960" y="5532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Size (400 → 852)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9281160" y="5120640"/>
            <a:ext cx="26060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281160" y="5120640"/>
            <a:ext cx="54864" cy="82296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6" name="Text 21"/>
          <p:cNvSpPr/>
          <p:nvPr/>
        </p:nvSpPr>
        <p:spPr>
          <a:xfrm>
            <a:off x="9418320" y="51389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+1.5 pts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9418320" y="5532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Post-Messaging Yes (50% → 51.5%)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10881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764792"/>
            <a:ext cx="512064" cy="512064"/>
          </a:xfrm>
          <a:prstGeom prst="ellipse">
            <a:avLst/>
          </a:prstGeom>
          <a:solidFill>
            <a:srgbClr val="18365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86537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69164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bond measure is feasible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554480" y="202996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58.5% initial support exceeds TABOR’s 50%+1 threshold — stronger than the 2021 bond that failed by just 11 votes.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2514600"/>
            <a:ext cx="10881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22960" y="2633472"/>
            <a:ext cx="512064" cy="512064"/>
          </a:xfrm>
          <a:prstGeom prst="ellipse">
            <a:avLst/>
          </a:prstGeom>
          <a:solidFill>
            <a:srgbClr val="18365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73405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56032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is broad and nonpartisan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554480" y="28986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support across party lines, age groups, and school connection status.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10881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3502152"/>
            <a:ext cx="512064" cy="512064"/>
          </a:xfrm>
          <a:prstGeom prst="ellipse">
            <a:avLst/>
          </a:prstGeom>
          <a:solidFill>
            <a:srgbClr val="18365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60273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42900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Voters agree on what matters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554480" y="376732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Health, safety, and infrastructure are top priorities across all voter groups.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40080" y="4251960"/>
            <a:ext cx="10881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22960" y="4370832"/>
            <a:ext cx="512064" cy="512064"/>
          </a:xfrm>
          <a:prstGeom prst="ellipse">
            <a:avLst/>
          </a:prstGeom>
          <a:solidFill>
            <a:srgbClr val="18365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471416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54480" y="429768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proactive campaign is essential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554480" y="463600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soft support and compete for undecideds through factual public information.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40080" y="5120640"/>
            <a:ext cx="10881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22960" y="5239512"/>
            <a:ext cx="512064" cy="512064"/>
          </a:xfrm>
          <a:prstGeom prst="ellipse">
            <a:avLst/>
          </a:prstGeom>
          <a:solidFill>
            <a:srgbClr val="183650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5340096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54480" y="516636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is stronger than ever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1554480" y="550468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up, undecideds down, margin of error tighter vs. 2025 benchmark.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836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17336"/>
            <a:ext cx="9857232" cy="740664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6245352"/>
            <a:ext cx="1837944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10881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645920"/>
            <a:ext cx="54864" cy="749808"/>
          </a:xfrm>
          <a:prstGeom prst="rect">
            <a:avLst/>
          </a:prstGeom>
          <a:solidFill>
            <a:srgbClr val="F1C84B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1764792"/>
            <a:ext cx="512064" cy="512064"/>
          </a:xfrm>
          <a:prstGeom prst="ellipse">
            <a:avLst/>
          </a:prstGeom>
          <a:solidFill>
            <a:srgbClr val="183650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1764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00200" y="169164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Awareness &amp; Engagement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600200" y="20116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the community engagement plan: town halls, listening sessions, school tours, and stakeholder meetings to build awareness around facility needs.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2514600"/>
            <a:ext cx="10881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" y="2514600"/>
            <a:ext cx="54864" cy="749808"/>
          </a:xfrm>
          <a:prstGeom prst="rect">
            <a:avLst/>
          </a:prstGeom>
          <a:solidFill>
            <a:srgbClr val="F1C84B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633472"/>
            <a:ext cx="512064" cy="512064"/>
          </a:xfrm>
          <a:prstGeom prst="ellipse">
            <a:avLst/>
          </a:prstGeom>
          <a:solidFill>
            <a:srgbClr val="183650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00200" y="256032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Development &amp; Refinement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600200" y="288036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ballot language, funding structures, and accountability provisions based on voter priorities identified in this survey.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383280"/>
            <a:ext cx="10881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" y="3383280"/>
            <a:ext cx="54864" cy="749808"/>
          </a:xfrm>
          <a:prstGeom prst="rect">
            <a:avLst/>
          </a:prstGeom>
          <a:solidFill>
            <a:srgbClr val="F1C84B"/>
          </a:solidFill>
          <a:ln/>
        </p:spPr>
      </p:sp>
      <p:sp>
        <p:nvSpPr>
          <p:cNvPr id="20" name="Shape 17"/>
          <p:cNvSpPr/>
          <p:nvPr/>
        </p:nvSpPr>
        <p:spPr>
          <a:xfrm>
            <a:off x="868680" y="3502152"/>
            <a:ext cx="512064" cy="512064"/>
          </a:xfrm>
          <a:prstGeom prst="ellipse">
            <a:avLst/>
          </a:prstGeom>
          <a:solidFill>
            <a:srgbClr val="183650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3502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600200" y="342900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&amp; Public Information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600200" y="374904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factual messaging and FAQs addressing top voter concerns — especially transparency, financial oversight, and the tax impact.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" y="4251960"/>
            <a:ext cx="10881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0080" y="4251960"/>
            <a:ext cx="54864" cy="749808"/>
          </a:xfrm>
          <a:prstGeom prst="rect">
            <a:avLst/>
          </a:prstGeom>
          <a:solidFill>
            <a:srgbClr val="F1C84B"/>
          </a:solidFill>
          <a:ln/>
        </p:spPr>
      </p:sp>
      <p:sp>
        <p:nvSpPr>
          <p:cNvPr id="26" name="Shape 23"/>
          <p:cNvSpPr/>
          <p:nvPr/>
        </p:nvSpPr>
        <p:spPr>
          <a:xfrm>
            <a:off x="868680" y="4370832"/>
            <a:ext cx="512064" cy="512064"/>
          </a:xfrm>
          <a:prstGeom prst="ellipse">
            <a:avLst/>
          </a:prstGeom>
          <a:solidFill>
            <a:srgbClr val="183650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4370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600200" y="42976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Soft Support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600200" y="461772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the 26% of Yes voters who weakened under opposition attacks with proactive factual information before opponents frame the narrative.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" y="5120640"/>
            <a:ext cx="10881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0080" y="5120640"/>
            <a:ext cx="54864" cy="749808"/>
          </a:xfrm>
          <a:prstGeom prst="rect">
            <a:avLst/>
          </a:prstGeom>
          <a:solidFill>
            <a:srgbClr val="F1C84B"/>
          </a:solidFill>
          <a:ln/>
        </p:spPr>
      </p:sp>
      <p:sp>
        <p:nvSpPr>
          <p:cNvPr id="32" name="Shape 29"/>
          <p:cNvSpPr/>
          <p:nvPr/>
        </p:nvSpPr>
        <p:spPr>
          <a:xfrm>
            <a:off x="868680" y="5239512"/>
            <a:ext cx="512064" cy="512064"/>
          </a:xfrm>
          <a:prstGeom prst="ellipse">
            <a:avLst/>
          </a:prstGeom>
          <a:solidFill>
            <a:srgbClr val="183650"/>
          </a:solidFill>
          <a:ln/>
        </p:spPr>
      </p:sp>
      <p:sp>
        <p:nvSpPr>
          <p:cNvPr id="33" name="Text 30"/>
          <p:cNvSpPr/>
          <p:nvPr/>
        </p:nvSpPr>
        <p:spPr>
          <a:xfrm>
            <a:off x="868680" y="5239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600200" y="516636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for the Ballot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600200" y="548640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measure structure, coordinate board approval timeline, and ensure full TABOR compliance ahead of the November 2026 election.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70248" y="0"/>
            <a:ext cx="7918704" cy="6858000"/>
          </a:xfrm>
          <a:prstGeom prst="rect">
            <a:avLst/>
          </a:prstGeom>
          <a:solidFill>
            <a:srgbClr val="1836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2743200" cy="269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22860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754880" y="3291840"/>
            <a:ext cx="1645920" cy="36576"/>
          </a:xfrm>
          <a:prstGeom prst="rect">
            <a:avLst/>
          </a:prstGeom>
          <a:solidFill>
            <a:srgbClr val="F1C84B"/>
          </a:solidFill>
          <a:ln/>
        </p:spPr>
      </p:sp>
      <p:sp>
        <p:nvSpPr>
          <p:cNvPr id="6" name="Text 3"/>
          <p:cNvSpPr/>
          <p:nvPr/>
        </p:nvSpPr>
        <p:spPr>
          <a:xfrm>
            <a:off x="4754880" y="3566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C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Fog Signal Strategies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754880" y="4206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Carter James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cjames@fogsignalstrategies.com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CSSD11 Bond Feasibility Survey — Results Presentation</dc:title>
  <dc:subject>PptxGenJS Presentation</dc:subject>
  <dc:creator>Fog Signal Strategies</dc:creator>
  <cp:lastModifiedBy>Fog Signal Strategies</cp:lastModifiedBy>
  <cp:revision>1</cp:revision>
  <dcterms:created xsi:type="dcterms:W3CDTF">2026-04-03T19:11:07Z</dcterms:created>
  <dcterms:modified xsi:type="dcterms:W3CDTF">2026-04-03T19:11:07Z</dcterms:modified>
</cp:coreProperties>
</file>